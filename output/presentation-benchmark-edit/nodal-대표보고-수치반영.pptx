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20751914a2450d" /><Relationship Type="http://schemas.openxmlformats.org/officeDocument/2006/relationships/extended-properties" Target="/docProps/app.xml" Id="R7b5fa004fd91473a" /><Relationship Type="http://schemas.openxmlformats.org/officeDocument/2006/relationships/officeDocument" Target="/ppt/presentation.xml" Id="Rfc8c520232df4d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ada2d1ad014c86"/>
  </p:sldMasterIdLst>
  <p:notesMasterIdLst>
    <p:notesMasterId xmlns:r="http://schemas.openxmlformats.org/officeDocument/2006/relationships" r:id="R34b069a0ad344c90"/>
  </p:notesMasterIdLst>
  <p:sldIdLst>
    <p:sldId xmlns:r="http://schemas.openxmlformats.org/officeDocument/2006/relationships" id="256" r:id="R80ca4cef306d4747"/>
    <p:sldId xmlns:r="http://schemas.openxmlformats.org/officeDocument/2006/relationships" id="257" r:id="R904fd3cd4b944409"/>
    <p:sldId xmlns:r="http://schemas.openxmlformats.org/officeDocument/2006/relationships" id="258" r:id="R286c5557d5684098"/>
    <p:sldId xmlns:r="http://schemas.openxmlformats.org/officeDocument/2006/relationships" id="259" r:id="R4bf4ec311a184495"/>
    <p:sldId xmlns:r="http://schemas.openxmlformats.org/officeDocument/2006/relationships" id="260" r:id="R6bba147104a3474d"/>
    <p:sldId xmlns:r="http://schemas.openxmlformats.org/officeDocument/2006/relationships" id="261" r:id="Rfd901feaa66543fe"/>
    <p:sldId xmlns:r="http://schemas.openxmlformats.org/officeDocument/2006/relationships" id="262" r:id="R7e2e851db7e84a0e"/>
    <p:sldId xmlns:r="http://schemas.openxmlformats.org/officeDocument/2006/relationships" id="263" r:id="Ra4ea116ff36748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0f7de4ea8a427f" /><Relationship Type="http://schemas.openxmlformats.org/officeDocument/2006/relationships/slideMaster" Target="/ppt/slideMasters/slideMaster1.xml" Id="R61ada2d1ad014c86" /><Relationship Type="http://schemas.openxmlformats.org/officeDocument/2006/relationships/notesMaster" Target="/ppt/notesMasters/notesMaster1.xml" Id="R34b069a0ad344c90" /><Relationship Type="http://schemas.openxmlformats.org/officeDocument/2006/relationships/presProps" Target="/ppt/presProps.xml" Id="R98ebb3f2db67425f" /><Relationship Type="http://schemas.openxmlformats.org/officeDocument/2006/relationships/viewProps" Target="/ppt/viewProps.xml" Id="Rb07848d498bb4990" /><Relationship Type="http://schemas.openxmlformats.org/officeDocument/2006/relationships/tableStyles" Target="/ppt/tableStyles.xml" Id="R09d5e6f04ed64b29" /><Relationship Type="http://schemas.openxmlformats.org/officeDocument/2006/relationships/slide" Target="/ppt/slides/slide1.xml" Id="R80ca4cef306d4747" /><Relationship Type="http://schemas.openxmlformats.org/officeDocument/2006/relationships/slide" Target="/ppt/slides/slide2.xml" Id="R904fd3cd4b944409" /><Relationship Type="http://schemas.openxmlformats.org/officeDocument/2006/relationships/slide" Target="/ppt/slides/slide3.xml" Id="R286c5557d5684098" /><Relationship Type="http://schemas.openxmlformats.org/officeDocument/2006/relationships/slide" Target="/ppt/slides/slide4.xml" Id="R4bf4ec311a184495" /><Relationship Type="http://schemas.openxmlformats.org/officeDocument/2006/relationships/slide" Target="/ppt/slides/slide5.xml" Id="R6bba147104a3474d" /><Relationship Type="http://schemas.openxmlformats.org/officeDocument/2006/relationships/slide" Target="/ppt/slides/slide6.xml" Id="Rfd901feaa66543fe" /><Relationship Type="http://schemas.openxmlformats.org/officeDocument/2006/relationships/slide" Target="/ppt/slides/slide7.xml" Id="R7e2e851db7e84a0e" /><Relationship Type="http://schemas.openxmlformats.org/officeDocument/2006/relationships/slide" Target="/ppt/slides/slide8.xml" Id="Ra4ea116ff36748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e652be071641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d5aa80d8f64e08" /><Relationship Type="http://schemas.openxmlformats.org/officeDocument/2006/relationships/notesMaster" Target="/ppt/notesMasters/notesMaster1.xml" Id="R975a4102b3a148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44fac743d440c3" /><Relationship Type="http://schemas.openxmlformats.org/officeDocument/2006/relationships/notesMaster" Target="/ppt/notesMasters/notesMaster1.xml" Id="Re008fcae7f384a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19a83819ce47d6" /><Relationship Type="http://schemas.openxmlformats.org/officeDocument/2006/relationships/notesMaster" Target="/ppt/notesMasters/notesMaster1.xml" Id="Rcaee8f9abb5049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aea49c2377425a" /><Relationship Type="http://schemas.openxmlformats.org/officeDocument/2006/relationships/notesMaster" Target="/ppt/notesMasters/notesMaster1.xml" Id="R1a95a2674daa45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92ef185c524d62" /><Relationship Type="http://schemas.openxmlformats.org/officeDocument/2006/relationships/notesMaster" Target="/ppt/notesMasters/notesMaster1.xml" Id="Re25858ff8c7d43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2f28dab3154ff0" /><Relationship Type="http://schemas.openxmlformats.org/officeDocument/2006/relationships/notesMaster" Target="/ppt/notesMasters/notesMaster1.xml" Id="R1bfd3614704b48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f8da8c357a4e08" /><Relationship Type="http://schemas.openxmlformats.org/officeDocument/2006/relationships/notesMaster" Target="/ppt/notesMasters/notesMaster1.xml" Id="R860f1e5c13f649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57d7ed1be0418a" /><Relationship Type="http://schemas.openxmlformats.org/officeDocument/2006/relationships/notesMaster" Target="/ppt/notesMasters/notesMaster1.xml" Id="Refac43b73b7249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아무 말 없이 3초 두기.
그다음 한 문장: "이 이미지, 제가 만든 프로그램으로 뽑았습니다."
설명하지 말고 바로 다음 장으로.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프롬프트를 소리 내어 그대로 읽기. 요약하지 말 것 — 이 문장이 짧다는 게 핵심.
"9분 걸렸고, 그동안 저는 아무것도 하지 않았습니다."
워크플로를 처음부터 세팅하느라 걸린 시간이라, 반복 실행은 더 짧다는 점 덧붙이기.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대표님이 이미 아시는 내용이라 빠르게 지나가기.
포인트 하나만: 세 가지 모두 "사람이 계속 붙어 있어야 한다"는 공통점.
특히 자켓 정사각형 / 유튜브 썸네일 / 인스타 세로처럼 같은 그림을 포맷만 바꿔 다시 뽑는 일이 반복된다는 점.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화면을 손으로 짚어가며 왼쪽에서 오른쪽으로 읽기.
① 원본 캐릭터 에셋 → ② 인스타그램 4:5 → ③ 로컬 Z-Image 모델 → ④ 변환 → ⑤ PNG 저장
노드 이름을 한국어로 붙일 수 있다는 것 = 우리 팀 누구나 열어볼 수 있다는 뜻.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장에 4분. 발표의 중심.
①이 가장 강함 — Z-Image 노드는 설계 문서에도 없던 것을 업무에 필요해서 직접 붙인 것.
"남의 도구였으면 기다렸어야 합니다."
③은 다음 장에서 숫자로 보여준다고 예고하고 넘어가기.
소유 얘기는 반드시 "우리 회사 소유"로 말할 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 영상 두 클립 재생.</a:t>
            </a:r>
            <a:endParaRPr/>
          </a:p>
          <a:p xmlns:a="http://schemas.openxmlformats.org/drawingml/2006/main">
            <a:r>
              <a:t>(a) 코덱스에 문장 하나 → 이미지가 나오는 장면</a:t>
            </a:r>
            <a:endParaRPr/>
          </a:p>
          <a:p xmlns:a="http://schemas.openxmlformats.org/drawingml/2006/main">
            <a:r>
              <a:t>(b) 프롬프트 한 단어만 바꿔 재실행 → 앞 노드가 캐시로 넘어가는 장면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2026-09-03 실측: 1차 35.365초 / 2차 16.454초 / 무캐시 대조군 16.542초. 서버 get_run의 elapsed_ms 기준. 세 실행 모두 MCP streamable HTTP 템플릿 호출이며 브라우저/REST 실행값은 제외했다.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한 문장으로 정리: "프롬프트를 바꾼 재실행은 16.454초였고, 원본 로드와 리사이즈는 재사용했습니다."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측정 조건: Z-Image i2i, 768×960, strength 0.3, steps 26, guidance 4, seed 9032031. quiet → tender 한 단어만 변경. 서버 재시작 후 1차 실행, 이후 동일 서버에서 2차·3차 연속 실행. 3차는 2차와 같은 인자에 use_cache=false.</a:t>
            </a:r>
            <a:endParaRPr/>
          </a:p>
          <a:p xmlns:a="http://schemas.openxmlformats.org/drawingml/2006/main">
            <a:r>
              <a:t>2차 캐시: input:source, call:fit. 모델 로더는 모든 실행에서 호출됐고, 2·3차는 모델 매니저가 모델을 보유한 웜 상태. 2·3차 출력 해시는 동일하다.</a:t>
            </a:r>
            <a:endParaRPr/>
          </a:p>
          <a:p xmlns:a="http://schemas.openxmlformats.org/drawingml/2006/main">
            <a:r>
              <a:t>주의: 조건별 1회 측정이며 반복·무작위 순서 비교를 하지 않았다. 88ms는 이번 관측 차이이지 통계적으로 확인된 순수 캐시 이득이 아니다. 53.5%는 콜드 대비 단축률이며 실행 캐시 단독 효과로 주장하지 않는다.</a:t>
            </a:r>
            <a:endParaRPr/>
          </a:p>
          <a:p xmlns:a="http://schemas.openxmlformats.org/drawingml/2006/main">
            <a:r>
              <a:t>클라이언트: Python MCP SDK (Codex가 실행한 스크립트), streamable HTTP. Codex 네이티브 노출 도구로 직접 호출한 벤치마크는 아니다.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C:/Users/nexta/Desktop/nodal/output/virtual-artist-single/mcp-cache-benchmark-2026-09-03.md</a:t>
            </a:r>
            <a:endParaRPr/>
          </a:p>
          <a:p xmlns:a="http://schemas.openxmlformats.org/drawingml/2006/main">
            <a:r>
              <a:t>C:/Users/nexta/Desktop/nodal/output/virtual-artist-single/benchmark_nodal_mcp.py</a:t>
            </a:r>
            <a:endParaRPr/>
          </a:p>
          <a:p xmlns:a="http://schemas.openxmlformats.org/drawingml/2006/main">
            <a:r>
              <a:t>Run IDs: 21a715b30ca74fa9b3358ce15921c9e8; 61e6b6b53e774217b1ced8fd51a68f3b; e45399759bc1441d960e6f7afc3dcb72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장이 버추얼 가수 회사에서는 본론.
"예쁜 그림이 나오느냐"가 아니라 "같은 사람이 유지되느냐"가 문제라는 것을 먼저 말하기.
strength 0.3 = 원본을 거의 그대로 두고 조명과 시간대만 바꾼다는 뜻.
이 구조라서 다음 단계인 영상도 같은 방식으로 갈 수 있다고 연결.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단계를 빠르게 한 줄씩.
영상은 "아직 테스트 전"이라고 반드시 말할 것 — 감추지 말고 다음 얘기로 넘기는 모양으로.
마지막 문장을 읽고 멈추기. 질문 받기.
(예상 질문) 이거 회사 것이냐 → 회사 업무로 만들었고 회사 소유. 라이선스 표기만 정리하면 됩니다.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d11232f974e5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11a2f71ff04c57" /><Relationship Type="http://schemas.openxmlformats.org/officeDocument/2006/relationships/slideLayout" Target="/ppt/slideLayouts/slideLayout1.xml" Id="Rd1a3794a5c13492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a3794a5c13492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61c68a5c34d93" /><Relationship Type="http://schemas.openxmlformats.org/officeDocument/2006/relationships/image" Target="/ppt/media/image.jpeg" Id="Rd4695dbb4cfb4048" /><Relationship Type="http://schemas.openxmlformats.org/officeDocument/2006/relationships/notesSlide" Target="/ppt/notesSlides/notesSlide1.xml" Id="Rde508d99c72b46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adfb09d6c4cbb" /><Relationship Type="http://schemas.openxmlformats.org/officeDocument/2006/relationships/image" Target="/ppt/media/image2.jpeg" Id="R4e4f46a4dd5344c7" /><Relationship Type="http://schemas.openxmlformats.org/officeDocument/2006/relationships/image" Target="/ppt/media/image3.jpeg" Id="R047daf5223974d17" /><Relationship Type="http://schemas.openxmlformats.org/officeDocument/2006/relationships/image" Target="/ppt/media/image4.jpeg" Id="Rf0365a4738064d6c" /><Relationship Type="http://schemas.openxmlformats.org/officeDocument/2006/relationships/image" Target="/ppt/media/image5.jpeg" Id="Rd2a9e1a430bb4127" /><Relationship Type="http://schemas.openxmlformats.org/officeDocument/2006/relationships/notesSlide" Target="/ppt/notesSlides/notesSlide2.xml" Id="R8196935970e14a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f338eda2744f5" /><Relationship Type="http://schemas.openxmlformats.org/officeDocument/2006/relationships/notesSlide" Target="/ppt/notesSlides/notesSlide3.xml" Id="Rdc480e8161eb40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983f5f3874e76" /><Relationship Type="http://schemas.openxmlformats.org/officeDocument/2006/relationships/image" Target="/ppt/media/image6.jpeg" Id="R83b57aac5b424472" /><Relationship Type="http://schemas.openxmlformats.org/officeDocument/2006/relationships/notesSlide" Target="/ppt/notesSlides/notesSlide4.xml" Id="R7d1f22f09d9f46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5781defdd4f05" /><Relationship Type="http://schemas.openxmlformats.org/officeDocument/2006/relationships/notesSlide" Target="/ppt/notesSlides/notesSlide5.xml" Id="Ra466649c7aac43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3b5ba6d2043cc" /><Relationship Type="http://schemas.openxmlformats.org/officeDocument/2006/relationships/notesSlide" Target="/ppt/notesSlides/notesSlide6.xml" Id="R8e97fb96a5f046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db7f24f2b4f10" /><Relationship Type="http://schemas.openxmlformats.org/officeDocument/2006/relationships/image" Target="/ppt/media/image7.jpeg" Id="R50ee9d3f45764c73" /><Relationship Type="http://schemas.openxmlformats.org/officeDocument/2006/relationships/image" Target="/ppt/media/image8.jpeg" Id="R6a8649f73cf64814" /><Relationship Type="http://schemas.openxmlformats.org/officeDocument/2006/relationships/notesSlide" Target="/ppt/notesSlides/notesSlide7.xml" Id="Rb4d531e016f742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9ee1c54c942c0" /><Relationship Type="http://schemas.openxmlformats.org/officeDocument/2006/relationships/image" Target="/ppt/media/image9.jpeg" Id="R7b0c9441fae045a5" /><Relationship Type="http://schemas.openxmlformats.org/officeDocument/2006/relationships/image" Target="/ppt/media/image10.jpeg" Id="R07e5ea855c1c4032" /><Relationship Type="http://schemas.openxmlformats.org/officeDocument/2006/relationships/image" Target="/ppt/media/image11.jpeg" Id="R46c007cc86a64842" /><Relationship Type="http://schemas.openxmlformats.org/officeDocument/2006/relationships/image" Target="/ppt/media/image12.jpeg" Id="R7bd4f7347ba44a13" /><Relationship Type="http://schemas.openxmlformats.org/officeDocument/2006/relationships/notesSlide" Target="/ppt/notesSlides/notesSlide8.xml" Id="Reb672ba3a2954c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95dbb4cfb40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6531" y="0"/>
            <a:ext cx="5488457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BCD1DAB-607F-4AFD-8F9B-80470696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150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3FDA9A"/>
                </a:solidFill>
                <a:latin typeface="Arial"/>
                <a:ea typeface="Arial"/>
                <a:cs typeface="Arial"/>
              </a:rPr>
              <a:t>nodal</a:t>
            </a:r>
            <a:endParaRPr sz="2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E25E20E-D4BF-447B-A8F1-0F455080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17220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2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LOCAL GRAPH STUDIO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74D559A-1E6B-4948-8738-1ED9EC8D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617220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사내 보고 · 2026.09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789398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06F8C6E-46DD-4FAA-8EEF-E541DD7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문장 하나. 그게 전부였습니다.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8DDCB08-88F6-4667-8503-91A0024D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실제로 입력한 프롬프트 전문입니다.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736A249-0481-4431-AA70-B64A86AB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6949440" cy="278892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151C24"/>
          </a:solidFill>
          <a:ln xmlns:a="http://schemas.openxmlformats.org/drawingml/2006/main" w="12700">
            <a:solidFill>
              <a:srgbClr val="151C24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E775EB2-0E16-4A91-BB57-EB470331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47088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00">
                <a:solidFill>
                  <a:srgbClr val="3FDA9A"/>
                </a:solidFill>
                <a:latin typeface="Calibri"/>
                <a:ea typeface="Calibri"/>
                <a:cs typeface="Calibri"/>
              </a:rPr>
              <a:t>PROMPT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4DA3E3E-A713-41EE-83DD-D3219330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12848"/>
            <a:ext cx="6309360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600">
                <a:solidFill>
                  <a:srgbClr val="E8EEF4"/>
                </a:solidFill>
                <a:latin typeface="Courier New"/>
                <a:ea typeface="Courier New"/>
                <a:cs typeface="Courier New"/>
              </a:rPr>
              <a:t>진행 중인 버추얼 아티스트 신곡 홍보용 이미지를 만들어줘. 분위기는 서정적이고 절절한 분위기야. 그렇다고 캐릭터가 너무 울상인건 안되고. C:\kohya_ss\dataset\10_hwiwon 이 캐릭터야.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6F8D153-F57F-4A4A-9C04-38295EEF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45920"/>
            <a:ext cx="3520440" cy="850392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E2731"/>
          </a:solidFill>
          <a:ln xmlns:a="http://schemas.openxmlformats.org/drawingml/2006/main" w="12700">
            <a:solidFill>
              <a:srgbClr val="1E273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B74F013-7ED5-4BBD-9F6D-11D4C765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645920"/>
            <a:ext cx="1234440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3FDA9A"/>
                </a:solidFill>
                <a:latin typeface="Arial"/>
                <a:ea typeface="Arial"/>
                <a:cs typeface="Arial"/>
              </a:rPr>
              <a:t>9분</a:t>
            </a:r>
            <a:endParaRPr sz="3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4B4EF00-F88D-4DAA-B629-7D91EABA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645920"/>
            <a:ext cx="1828800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결과가 나오기까지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3C52CD9-B376-421F-9697-824A2C61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5184"/>
            <a:ext cx="3520440" cy="850392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E2731"/>
          </a:solidFill>
          <a:ln xmlns:a="http://schemas.openxmlformats.org/drawingml/2006/main" w="12700">
            <a:solidFill>
              <a:srgbClr val="1E2731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3E8556E-1AA5-4188-91FE-1F362524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15184"/>
            <a:ext cx="1234440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3FDA9A"/>
                </a:solidFill>
                <a:latin typeface="Arial"/>
                <a:ea typeface="Arial"/>
                <a:cs typeface="Arial"/>
              </a:rPr>
              <a:t>5장</a:t>
            </a:r>
            <a:endParaRPr sz="3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27C3C48-0FF6-44D7-A129-D6608BB1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615184"/>
            <a:ext cx="1828800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홍보용 이미지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DFED107-A53A-4FAE-BCB8-54B4D1AB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4448"/>
            <a:ext cx="3520440" cy="850392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E2731"/>
          </a:solidFill>
          <a:ln xmlns:a="http://schemas.openxmlformats.org/drawingml/2006/main" w="12700">
            <a:solidFill>
              <a:srgbClr val="1E2731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6BABC42-58EC-49E2-BBD3-0717AF7A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584448"/>
            <a:ext cx="1234440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3FDA9A"/>
                </a:solidFill>
                <a:latin typeface="Arial"/>
                <a:ea typeface="Arial"/>
                <a:cs typeface="Arial"/>
              </a:rPr>
              <a:t>0회</a:t>
            </a:r>
            <a:endParaRPr sz="3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2098ECE-AD4D-49B3-BE84-D553A95C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584448"/>
            <a:ext cx="1828800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제 개입</a:t>
            </a:r>
            <a:endParaRPr sz="13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f46a4dd5344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846320"/>
            <a:ext cx="1170871" cy="1463040"/>
          </a:xfrm>
          <a:prstGeom xmlns:a="http://schemas.openxmlformats.org/drawingml/2006/main" prst="rect">
            <a:avLst/>
          </a:prstGeom>
        </p:spPr>
      </p:pic>
      <p:pic>
        <p:nvPicPr>
          <p:cNvPr id="4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daf5223974d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5543" y="4846320"/>
            <a:ext cx="1170871" cy="1463040"/>
          </a:xfrm>
          <a:prstGeom xmlns:a="http://schemas.openxmlformats.org/drawingml/2006/main" prst="rect">
            <a:avLst/>
          </a:prstGeom>
        </p:spPr>
      </p:pic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65a4738064d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1006" y="4846320"/>
            <a:ext cx="1170871" cy="1463040"/>
          </a:xfrm>
          <a:prstGeom xmlns:a="http://schemas.openxmlformats.org/drawingml/2006/main" prst="rect">
            <a:avLst/>
          </a:prstGeom>
        </p:spPr>
      </p:pic>
      <p:pic>
        <p:nvPicPr>
          <p:cNvPr id="4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9e1a430bb41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469" y="4846320"/>
            <a:ext cx="1170871" cy="146304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E190858F-0F45-4221-AAE5-5F1ACEF9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846320"/>
            <a:ext cx="51663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3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노드도, 포토샵도, C4D도</a:t>
            </a:r>
            <a:endParaRPr sz="2300"/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3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건드리지 않았습니다.</a:t>
            </a:r>
            <a:endParaRPr sz="2300"/>
          </a:p>
        </p:txBody>
      </p:sp>
    </p:spTree>
    <p:extLst>
      <p:ext uri="{BB962C8B-B14F-4D97-AF65-F5344CB8AC3E}">
        <p14:creationId xmlns:p14="http://schemas.microsoft.com/office/powerpoint/2010/main" val="7471318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649E003-6043-43DF-9569-B15C53D4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원래 우리는 이렇게 만듭니다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903D89-09CC-450F-9B83-829ADC5E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10881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AI의 도움을 받지만, 결국 사람이 계속 붙어 있어야 합니다.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F19497B-2604-40BA-A388-D4911702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37360"/>
            <a:ext cx="3291840" cy="2697480"/>
          </a:xfrm>
          <a:prstGeom xmlns:a="http://schemas.openxmlformats.org/drawingml/2006/main" prst="roundRect">
            <a:avLst>
              <a:gd name="adj" fmla="val 2034"/>
            </a:avLst>
          </a:prstGeom>
          <a:solidFill xmlns:a="http://schemas.openxmlformats.org/drawingml/2006/main">
            <a:srgbClr val="151C24"/>
          </a:solidFill>
          <a:ln xmlns:a="http://schemas.openxmlformats.org/drawingml/2006/main" w="12700">
            <a:solidFill>
              <a:srgbClr val="151C24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C0A491-1966-44FE-90BC-000BF1B8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5740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DA9A"/>
          </a:solidFill>
          <a:ln xmlns:a="http://schemas.openxmlformats.org/drawingml/2006/main" w="12700">
            <a:solidFill>
              <a:srgbClr val="3FDA9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722C836-1E81-43F1-8D52-F0A1898F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57400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3B2C"/>
                </a:solidFill>
                <a:latin typeface="Arial"/>
                <a:ea typeface="Arial"/>
                <a:cs typeface="Arial"/>
              </a:rPr>
              <a:t>1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948BFA7-8175-4A0F-ADAF-0050F31F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97480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ComfyUI 노드</a:t>
            </a:r>
            <a:endParaRPr sz="19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E393F16-0718-4450-BCB6-96E46C1A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154680"/>
            <a:ext cx="2651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3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노드를 직접 연결하고 값을 조정합니다. 워크플로를 아는 사람만 손댈 수 있습니다.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CD35001-03C3-42FE-BF56-1D8E7D2E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737360"/>
            <a:ext cx="3291840" cy="2697480"/>
          </a:xfrm>
          <a:prstGeom xmlns:a="http://schemas.openxmlformats.org/drawingml/2006/main" prst="roundRect">
            <a:avLst>
              <a:gd name="adj" fmla="val 2034"/>
            </a:avLst>
          </a:prstGeom>
          <a:solidFill xmlns:a="http://schemas.openxmlformats.org/drawingml/2006/main">
            <a:srgbClr val="151C24"/>
          </a:solidFill>
          <a:ln xmlns:a="http://schemas.openxmlformats.org/drawingml/2006/main" w="12700">
            <a:solidFill>
              <a:srgbClr val="151C24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2343118-6C03-46CA-9BD5-88FD5343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05740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DA9A"/>
          </a:solidFill>
          <a:ln xmlns:a="http://schemas.openxmlformats.org/drawingml/2006/main" w="12700">
            <a:solidFill>
              <a:srgbClr val="3FDA9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618AB21-BA1E-4E7E-B78D-2B41F763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057400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3B2C"/>
                </a:solidFill>
                <a:latin typeface="Arial"/>
                <a:ea typeface="Arial"/>
                <a:cs typeface="Arial"/>
              </a:rPr>
              <a:t>2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B05478E-49A8-40DD-8D48-0CC67BB7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97480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Photoshop</a:t>
            </a:r>
            <a:endParaRPr sz="1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3BA465A-410A-4EB3-B48D-B417CB0C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154680"/>
            <a:ext cx="2651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3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생성된 결과를 손으로 다듬습니다. 포맷이 바뀌면 처음부터 다시 만집니다.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ADDF167-79EB-4F9B-BA25-1B2C5CDD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737360"/>
            <a:ext cx="3291840" cy="2697480"/>
          </a:xfrm>
          <a:prstGeom xmlns:a="http://schemas.openxmlformats.org/drawingml/2006/main" prst="roundRect">
            <a:avLst>
              <a:gd name="adj" fmla="val 2034"/>
            </a:avLst>
          </a:prstGeom>
          <a:solidFill xmlns:a="http://schemas.openxmlformats.org/drawingml/2006/main">
            <a:srgbClr val="151C24"/>
          </a:solidFill>
          <a:ln xmlns:a="http://schemas.openxmlformats.org/drawingml/2006/main" w="12700">
            <a:solidFill>
              <a:srgbClr val="151C24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C6D586E-2A06-4D16-AE4A-6C0A1CE1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DA9A"/>
          </a:solidFill>
          <a:ln xmlns:a="http://schemas.openxmlformats.org/drawingml/2006/main" w="12700">
            <a:solidFill>
              <a:srgbClr val="3FDA9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31D5194-AD8D-4EDB-A97F-3166565B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3B2C"/>
                </a:solidFill>
                <a:latin typeface="Arial"/>
                <a:ea typeface="Arial"/>
                <a:cs typeface="Arial"/>
              </a:rPr>
              <a:t>3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4FA1720-2D6E-43E1-B509-CF6773AE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97480"/>
            <a:ext cx="2651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Cinema 4D</a:t>
            </a:r>
            <a:endParaRPr sz="1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2EF5A93-077E-41A9-8462-66ADC009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54680"/>
            <a:ext cx="2651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3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장면을 직접 구성하고 렌더합니다. 가장 정확하지만 가장 오래 걸립니다.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88AAF21-E417-4322-BDDF-8D9C42C8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54880"/>
            <a:ext cx="10698480" cy="105156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E2731"/>
          </a:solidFill>
          <a:ln xmlns:a="http://schemas.openxmlformats.org/drawingml/2006/main" w="12700">
            <a:solidFill>
              <a:srgbClr val="1E2731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3EC74FE-118F-4E91-A60F-D755833D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54880"/>
            <a:ext cx="98755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3FDA9A"/>
                </a:solidFill>
                <a:latin typeface="Arial"/>
                <a:ea typeface="Arial"/>
                <a:cs typeface="Arial"/>
              </a:rPr>
              <a:t>한 컷을 만드는 데 드는 것은 도구값이 아니라 사람의 시간이었습니다.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615908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75E52FF-53ED-46D0-8682-F7630DEA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그래서 만들었습니다 — nodal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3FC533-B5E9-4630-9961-97A45861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51560"/>
            <a:ext cx="10881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노드로 워크플로를 짜고, 바뀐 부분만 다시 실행하는 로컬 이미지 생성 워크스테이션입니다.</a:t>
            </a:r>
            <a:endParaRPr sz="1500"/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57aac5b4244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74520" y="1417320"/>
            <a:ext cx="8412480" cy="480438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2ABFC63-FFBF-49BD-9CD0-FFE29AB1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72784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실제 휘원 홍보 이미지 워크플로. 노드 이름은 사람이 읽을 수 있게 붙였습니다.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17670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7A7311-650F-4F8F-91D1-90244582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왜 있는 걸 두고 다시 만들었나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653AF4-FE9A-4C70-B9DA-99E5CEC4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24128"/>
            <a:ext cx="10881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네 가지 이유가 있습니다.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82464D4-2DEF-4D70-B676-54E6899F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4752"/>
            <a:ext cx="530352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51C24"/>
          </a:solidFill>
          <a:ln xmlns:a="http://schemas.openxmlformats.org/drawingml/2006/main" w="12700">
            <a:solidFill>
              <a:srgbClr val="151C24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9367255-9570-441B-A10A-9599C37A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3736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DA9A"/>
          </a:solidFill>
          <a:ln xmlns:a="http://schemas.openxmlformats.org/drawingml/2006/main" w="12700">
            <a:solidFill>
              <a:srgbClr val="3FDA9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805F4BC-223C-4057-9C9A-ACCBBB8B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37360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3B2C"/>
                </a:solidFill>
                <a:latin typeface="Arial"/>
                <a:ea typeface="Arial"/>
                <a:cs typeface="Arial"/>
              </a:rPr>
              <a:t>1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3BD451D-C8F0-47C2-91B6-F7605830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700784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우리 회사 소유입니다</a:t>
            </a:r>
            <a:endParaRPr sz="19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8BD7C4-578F-45CE-91C1-397A0AC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59152"/>
            <a:ext cx="4663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Z-Image가 나왔을 때 우리 도구에는 </a:t>
            </a:r>
            <a:r>
              <a:rPr sz="1350" b="1">
                <a:solidFill>
                  <a:srgbClr val="FFC857"/>
                </a:solidFill>
                <a:latin typeface="Calibri"/>
                <a:ea typeface="Calibri"/>
                <a:cs typeface="Calibri"/>
              </a:rPr>
              <a:t>[ ○일 ]</a:t>
            </a:r>
            <a:r>
              <a:rPr sz="135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 만에 들어왔습니다. 남의 도구였다면 그쪽이 지원해줄 때까지 기다려야 했습니다.</a:t>
            </a:r>
            <a:endParaRPr sz="13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9ABAC70-6EA7-4A64-8527-BA0C995F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4752"/>
            <a:ext cx="530352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51C24"/>
          </a:solidFill>
          <a:ln xmlns:a="http://schemas.openxmlformats.org/drawingml/2006/main" w="12700">
            <a:solidFill>
              <a:srgbClr val="151C24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BA70E03-4636-4C8C-A7C8-65B64FFC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3736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DA9A"/>
          </a:solidFill>
          <a:ln xmlns:a="http://schemas.openxmlformats.org/drawingml/2006/main" w="12700">
            <a:solidFill>
              <a:srgbClr val="3FDA9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F899567-4A92-4EA3-BB09-6840FC25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37360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3B2C"/>
                </a:solidFill>
                <a:latin typeface="Arial"/>
                <a:ea typeface="Arial"/>
                <a:cs typeface="Arial"/>
              </a:rPr>
              <a:t>2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0DE022E-36D8-4938-BFDB-111CDF66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00784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AI가 직접 부릅니다</a:t>
            </a:r>
            <a:endParaRPr sz="1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300B23D-DAB4-49E9-9DFE-8966FAD1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59152"/>
            <a:ext cx="4663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MCP로 연결해두면 외부 AI가 nodal을 도구처럼 씁니다. 기획자는 한국어 문장을 쓰면 됩니다.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6B6D14A-23D4-4B4A-8322-D81BDD7C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5032"/>
            <a:ext cx="530352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51C24"/>
          </a:solidFill>
          <a:ln xmlns:a="http://schemas.openxmlformats.org/drawingml/2006/main" w="12700">
            <a:solidFill>
              <a:srgbClr val="151C24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749CB10-604D-4AF5-9BB7-6055F67A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7764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DA9A"/>
          </a:solidFill>
          <a:ln xmlns:a="http://schemas.openxmlformats.org/drawingml/2006/main" w="12700">
            <a:solidFill>
              <a:srgbClr val="3FDA9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A88EAAC-D326-49E1-AF7B-64A67B3E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77640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3B2C"/>
                </a:solidFill>
                <a:latin typeface="Arial"/>
                <a:ea typeface="Arial"/>
                <a:cs typeface="Arial"/>
              </a:rPr>
              <a:t>3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07974D7-A937-4247-ACEE-0666098C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941064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바뀐 것만 다시 돕니다</a:t>
            </a:r>
            <a:endParaRPr sz="1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D424658-7D48-4CD0-8346-9D9D30DB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99432"/>
            <a:ext cx="4663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수정 요청이 들어와도 처음부터 다시 만들지 않습니다. 바뀐 지점 아래만 다시 계산합니다.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4F6D04-067A-45C6-8378-CECB00BD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85032"/>
            <a:ext cx="530352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51C24"/>
          </a:solidFill>
          <a:ln xmlns:a="http://schemas.openxmlformats.org/drawingml/2006/main" w="12700">
            <a:solidFill>
              <a:srgbClr val="151C24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81B58E4-0C45-4336-BA20-E1A3C9DB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7764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DA9A"/>
          </a:solidFill>
          <a:ln xmlns:a="http://schemas.openxmlformats.org/drawingml/2006/main" w="12700">
            <a:solidFill>
              <a:srgbClr val="3FDA9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98A0B01-560D-43A4-ABE2-D437344A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77640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3B2C"/>
                </a:solidFill>
                <a:latin typeface="Arial"/>
                <a:ea typeface="Arial"/>
                <a:cs typeface="Arial"/>
              </a:rPr>
              <a:t>4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1624B50-4A65-4394-8C9D-9570F2FE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941064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모델이 바뀌어도 갈아끼웁니다</a:t>
            </a:r>
            <a:endParaRPr sz="1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EB1CD02-7782-4DB7-874B-CEB5BE2B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99432"/>
            <a:ext cx="4663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지금 제일 좋은 모델에 맞춰 만든 게 아니라, 모델이 바뀌어도 노드만 갈아끼우면 되도록 만들었습니다.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400320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F5685C-83D4-4446-A898-0AEA2504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수정 요청이 들어왔을 때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B7CC1F-1825-46BF-931A-EFF1FB54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51560"/>
            <a:ext cx="10881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MCP 실행 · quiet → tender 한 단어 변경 · 해상도·시드 등 나머지 조건 동일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73A36A6-72E6-4299-A13F-4DB73FAA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6192"/>
            <a:ext cx="3383280" cy="22860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151C24"/>
          </a:solidFill>
          <a:ln xmlns:a="http://schemas.openxmlformats.org/drawingml/2006/main" w="12700">
            <a:solidFill>
              <a:srgbClr val="151C24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302277-81E3-4C7C-9ABB-85C95627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1907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1차 실행 · 콜드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04DFEB4-F313-4194-B4BC-A5CF84E1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84832"/>
            <a:ext cx="27432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35.365초</a:t>
            </a:r>
            <a:endParaRPr sz="4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8BC6B2E-9ECB-4581-B0E2-54DE2531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17520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5개 노드 실행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777DC4-33AA-43A2-B43E-78DCE44F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2841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캐시 ON · 최초 모델 로딩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A876679-C57F-470E-9F4F-ADAE42D6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36192"/>
            <a:ext cx="3383280" cy="22860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1E2731"/>
          </a:solidFill>
          <a:ln xmlns:a="http://schemas.openxmlformats.org/drawingml/2006/main" w="12700">
            <a:solidFill>
              <a:srgbClr val="1E273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28969CA-3C8A-44A8-884E-09AD6812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71907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3FDA9A"/>
                </a:solidFill>
                <a:latin typeface="Calibri"/>
                <a:ea typeface="Calibri"/>
                <a:cs typeface="Calibri"/>
              </a:rPr>
              <a:t>2차 실행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F009C35-9D8A-4779-98D1-5C25F16D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084832"/>
            <a:ext cx="27432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16.454초</a:t>
            </a:r>
            <a:endParaRPr sz="4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6A58DD-E54B-4B7C-BE09-BF276B2B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017520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3개 실행 · 2개 캐시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F6EFAE2-0572-489F-B662-AD1334C5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2841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원본 로드·리사이즈 재사용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FBEE941-E1CF-4293-A9B3-63A34DEC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36192"/>
            <a:ext cx="3383280" cy="22860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151C24"/>
          </a:solidFill>
          <a:ln xmlns:a="http://schemas.openxmlformats.org/drawingml/2006/main" w="12700">
            <a:solidFill>
              <a:srgbClr val="151C24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DF06D69-CC4A-4AD3-A7B2-0E2CD678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71907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대조군 · 모델 웜 상태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6C73F4B-E1BB-4FB4-A3AE-751EC45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084832"/>
            <a:ext cx="27432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16.542초</a:t>
            </a:r>
            <a:endParaRPr sz="4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B536605-AC29-4584-8767-2F4091D8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017520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캐시 OFF · 5개 실행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7E79E62-E004-47C5-BB96-29C8B6AE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2841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모델은 메모리에 유지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2B83EBC-B56F-4752-A6D6-9F12C16C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1106424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E2731"/>
          </a:solidFill>
          <a:ln xmlns:a="http://schemas.openxmlformats.org/drawingml/2006/main" w="12700">
            <a:solidFill>
              <a:srgbClr val="1E2731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054BA33-891E-441B-B4BE-DEBEAC24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9080"/>
            <a:ext cx="103327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500">
                <a:solidFill>
                  <a:srgbClr val="E8EEF4"/>
                </a:solidFill>
                <a:latin typeface="Calibri"/>
                <a:ea typeface="Calibri"/>
                <a:cs typeface="Calibri"/>
              </a:rPr>
              <a:t>콜드 대비 18.911초 단축에는 모델 재사용 효과가 포함됩니다. 캐시 ON/OFF 차이는 0.088초(단일 측정)로, 큰 개선을 실행 캐시만의 효과로 볼 수 없습니다.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5CFBD82-F331-4A80-B929-FF0A04AB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3FDA9A"/>
                </a:solidFill>
                <a:latin typeface="Arial"/>
                <a:ea typeface="Arial"/>
                <a:cs typeface="Arial"/>
              </a:rPr>
              <a:t>▶  데모 영상 — MCP 호출 한 번, 그리고 수정 재실행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766178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2894F5-7CD7-4B42-840C-1780BC98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휘원을 상상해서 그리지 않습니다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CE0E4A-A9BC-444D-8F1B-824F9749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3FDA9A"/>
                </a:solidFill>
                <a:latin typeface="Arial"/>
                <a:ea typeface="Arial"/>
                <a:cs typeface="Arial"/>
              </a:rPr>
              <a:t>휘원에서 출발합니다.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738D8E-D039-461E-82AC-E910F019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8483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DA9A"/>
          </a:solidFill>
          <a:ln xmlns:a="http://schemas.openxmlformats.org/drawingml/2006/main" w="12700">
            <a:solidFill>
              <a:srgbClr val="3FDA9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F23F688-3AE0-4BF1-980B-0BBF4CC8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8483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3B2C"/>
                </a:solidFill>
                <a:latin typeface="Arial"/>
                <a:ea typeface="Arial"/>
                <a:cs typeface="Arial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63D955F-FE86-4D86-8199-184FEF89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96596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원본 캐릭터 에셋</a:t>
            </a:r>
            <a:endParaRPr sz="1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AB0680D-2C46-46B3-8EFE-7046C5E8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313432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이미 만들어둔 휘원 렌더에서 시작합니다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CB2A663-9486-4351-96AC-D5091A2A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260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DA9A"/>
          </a:solidFill>
          <a:ln xmlns:a="http://schemas.openxmlformats.org/drawingml/2006/main" w="12700">
            <a:solidFill>
              <a:srgbClr val="3FDA9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F95C531-BEE6-4B2F-BC02-98328CA2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260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3B2C"/>
                </a:solidFill>
                <a:latin typeface="Arial"/>
                <a:ea typeface="Arial"/>
                <a:cs typeface="Arial"/>
              </a:rPr>
              <a:t>2</a:t>
            </a:r>
            <a:endParaRPr sz="15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99851BC-D8DC-4A54-AC2C-E36A9454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07208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인스타그램 4:5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0BA697D-9AFE-41A8-97AC-4C0CBE35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15468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768 × 960 — 포맷은 노드 하나로 바뀝니다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FD548E1-61B1-4BC7-827F-036EAD30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6732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DA9A"/>
          </a:solidFill>
          <a:ln xmlns:a="http://schemas.openxmlformats.org/drawingml/2006/main" w="12700">
            <a:solidFill>
              <a:srgbClr val="3FDA9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9D1920D-273B-4405-AE24-9053BC4D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6732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3B2C"/>
                </a:solidFill>
                <a:latin typeface="Arial"/>
                <a:ea typeface="Arial"/>
                <a:cs typeface="Arial"/>
              </a:rPr>
              <a:t>3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90BF932-B678-4C79-AB93-BDB28A2A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648456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로컬 Z-Image 모델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EC99369-53A2-4CE3-938F-FF8FBC82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995928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우리 장비 안에서 돕니다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45681D5-5AD6-484C-9026-775B6F83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0857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DA9A"/>
          </a:solidFill>
          <a:ln xmlns:a="http://schemas.openxmlformats.org/drawingml/2006/main" w="12700">
            <a:solidFill>
              <a:srgbClr val="3FDA9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968A797-83ED-4BCD-AB0C-966D3D2E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0857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3B2C"/>
                </a:solidFill>
                <a:latin typeface="Arial"/>
                <a:ea typeface="Arial"/>
                <a:cs typeface="Arial"/>
              </a:rPr>
              <a:t>4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8CFC75D-7BE3-40CA-8CA1-B0AB1B67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489704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변환 strength 0.3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2B8D8EC-05FF-46B9-86C4-6A0C51E4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837176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시간대와 분위기만 바꿉니다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1940986-8116-4EE0-9F84-F533A49F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486400"/>
            <a:ext cx="5760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3FDA9A"/>
                </a:solidFill>
                <a:latin typeface="Arial"/>
                <a:ea typeface="Arial"/>
                <a:cs typeface="Arial"/>
              </a:rPr>
              <a:t>원본이 신원을 붙들고, 모델은 분위기만 얹습니다.</a:t>
            </a:r>
            <a:endParaRPr sz="1600"/>
          </a:p>
        </p:txBody>
      </p:sp>
      <p:pic>
        <p:nvPicPr>
          <p:cNvPr id="4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e9d3f45764c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0" y="1965960"/>
            <a:ext cx="2634460" cy="3291840"/>
          </a:xfrm>
          <a:prstGeom xmlns:a="http://schemas.openxmlformats.org/drawingml/2006/main" prst="rect">
            <a:avLst/>
          </a:prstGeom>
        </p:spPr>
      </p:pic>
      <p:pic>
        <p:nvPicPr>
          <p:cNvPr id="4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649f73cf648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09760" y="1965960"/>
            <a:ext cx="2634460" cy="3291840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BF1D1AF-8B9F-4907-A78E-32CA46D3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5394960"/>
            <a:ext cx="54223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같은 얼굴, 다른 장면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2518537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970ACE8-1E3E-4392-BE31-47AF67FC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앞으로</a:t>
            </a:r>
            <a:endParaRPr sz="3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438E449-4E0A-463B-A355-6D7BC402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347472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51C24"/>
          </a:solidFill>
          <a:ln xmlns:a="http://schemas.openxmlformats.org/drawingml/2006/main" w="12700">
            <a:solidFill>
              <a:srgbClr val="151C24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A93039-C8B2-43D7-BE26-D269A6E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6304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DA9A"/>
          </a:solidFill>
          <a:ln xmlns:a="http://schemas.openxmlformats.org/drawingml/2006/main" w="12700">
            <a:solidFill>
              <a:srgbClr val="3FDA9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BCFD231-7011-4097-9A87-27D09410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6304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3B2C"/>
                </a:solidFill>
                <a:latin typeface="Arial"/>
                <a:ea typeface="Arial"/>
                <a:cs typeface="Arial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78B2D77-0469-4017-877C-EEE912D9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426464"/>
            <a:ext cx="2468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영상</a:t>
            </a:r>
            <a:endParaRPr sz="1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9915D69-138B-495E-9A4A-CC35A7E6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84832"/>
            <a:ext cx="2834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5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지금 이미지에서 하는 것을 프레임으로 늘립니다. 기존 3D 렌더 위에 얹는 방향이고, 아직 테스트 전입니다.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17243F9-B408-4B7C-A1D4-DAB22AF3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88720"/>
            <a:ext cx="347472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51C24"/>
          </a:solidFill>
          <a:ln xmlns:a="http://schemas.openxmlformats.org/drawingml/2006/main" w="12700">
            <a:solidFill>
              <a:srgbClr val="151C24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15BD9C3-E959-4686-AED0-93BB090A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6304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DA9A"/>
          </a:solidFill>
          <a:ln xmlns:a="http://schemas.openxmlformats.org/drawingml/2006/main" w="12700">
            <a:solidFill>
              <a:srgbClr val="3FDA9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E9BC050-508C-482E-B1D2-76F8DE98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6304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3B2C"/>
                </a:solidFill>
                <a:latin typeface="Arial"/>
                <a:ea typeface="Arial"/>
                <a:cs typeface="Arial"/>
              </a:rPr>
              <a:t>2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7F69560-13F7-4F77-92EB-36C5F19F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426464"/>
            <a:ext cx="2468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하나의 프로그램</a:t>
            </a:r>
            <a:endParaRPr sz="1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5C76480-2123-4A2A-99A0-B5ED1C2A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84832"/>
            <a:ext cx="2834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5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지금은 외부 AI를 붙여 씁니다. 이걸 하나의 화면 안으로 넣어, 대화만으로 제작이 진행되게 합니다.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A482CD1-503E-4C56-B117-4972F8B0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88720"/>
            <a:ext cx="347472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51C24"/>
          </a:solidFill>
          <a:ln xmlns:a="http://schemas.openxmlformats.org/drawingml/2006/main" w="12700">
            <a:solidFill>
              <a:srgbClr val="151C24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8F8F10B-CB70-4F29-A188-B21A1B55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46304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DA9A"/>
          </a:solidFill>
          <a:ln xmlns:a="http://schemas.openxmlformats.org/drawingml/2006/main" w="12700">
            <a:solidFill>
              <a:srgbClr val="3FDA9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F914EAA-13F3-4B83-8EEC-F3F4955A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46304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3B2C"/>
                </a:solidFill>
                <a:latin typeface="Arial"/>
                <a:ea typeface="Arial"/>
                <a:cs typeface="Arial"/>
              </a:rPr>
              <a:t>3</a:t>
            </a:r>
            <a:endParaRPr sz="15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D56F61-F351-4D64-8F54-48256B6B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426464"/>
            <a:ext cx="2468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E8EEF4"/>
                </a:solidFill>
                <a:latin typeface="Arial"/>
                <a:ea typeface="Arial"/>
                <a:cs typeface="Arial"/>
              </a:rPr>
              <a:t>기획안 하나로</a:t>
            </a:r>
            <a:endParaRPr sz="19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4DD5F3-D7A4-439E-9713-56F0F826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084832"/>
            <a:ext cx="2834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50">
                <a:solidFill>
                  <a:srgbClr val="8A97A6"/>
                </a:solidFill>
                <a:latin typeface="Calibri"/>
                <a:ea typeface="Calibri"/>
                <a:cs typeface="Calibri"/>
              </a:rPr>
              <a:t>가수와 곡 컨셉, 활동 기획안을 넣으면 앨범커버 · 화보 · 짧은 뮤직비디오가 함께 나옵니다.</a:t>
            </a:r>
            <a:endParaRPr sz="1250"/>
          </a:p>
        </p:txBody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c9441fae045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32292" y="3566160"/>
            <a:ext cx="1573358" cy="1965960"/>
          </a:xfrm>
          <a:prstGeom xmlns:a="http://schemas.openxmlformats.org/drawingml/2006/main" prst="rect">
            <a:avLst/>
          </a:prstGeom>
        </p:spPr>
      </p:pic>
      <p:pic>
        <p:nvPicPr>
          <p:cNvPr id="4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5ea855c1c40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6818" y="3566160"/>
            <a:ext cx="1573358" cy="1965960"/>
          </a:xfrm>
          <a:prstGeom xmlns:a="http://schemas.openxmlformats.org/drawingml/2006/main" prst="rect">
            <a:avLst/>
          </a:prstGeom>
        </p:spPr>
      </p:pic>
      <p:pic>
        <p:nvPicPr>
          <p:cNvPr id="4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007cc86a648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1344" y="3566160"/>
            <a:ext cx="1573358" cy="1965960"/>
          </a:xfrm>
          <a:prstGeom xmlns:a="http://schemas.openxmlformats.org/drawingml/2006/main" prst="rect">
            <a:avLst/>
          </a:prstGeom>
        </p:spPr>
      </p:pic>
      <p:pic>
        <p:nvPicPr>
          <p:cNvPr id="4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4f7347ba44a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5870" y="3566160"/>
            <a:ext cx="1573358" cy="196596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61C558DA-0F1F-4FB2-AB8A-3FBF422E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6072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3FDA9A"/>
                </a:solidFill>
                <a:latin typeface="Arial"/>
                <a:ea typeface="Arial"/>
                <a:cs typeface="Arial"/>
              </a:rPr>
              <a:t>지금은 이미지 한 장에 문장 하나가 필요합니다.  다음은 기획안 하나에 앨범 하나입니다.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6183179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2026-09-03T05:36:04.0170000Z</dcterms:created>
  <dcterms:modified xsi:type="dcterms:W3CDTF">2026-09-03T05:36:04.0170000Z</dcterms:modified>
</coreProperties>
</file>